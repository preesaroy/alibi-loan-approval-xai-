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1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4" r:id="rId10"/>
    <p:sldId id="264" r:id="rId11"/>
    <p:sldId id="265" r:id="rId12"/>
    <p:sldId id="275" r:id="rId13"/>
    <p:sldId id="276" r:id="rId14"/>
    <p:sldId id="279" r:id="rId15"/>
    <p:sldId id="278" r:id="rId16"/>
    <p:sldId id="269" r:id="rId17"/>
    <p:sldId id="270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1" d="100"/>
          <a:sy n="71" d="100"/>
        </p:scale>
        <p:origin x="38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architsharma01/loan-approval-prediction-dataset?utm_source=chatgpt.com&amp;select=loan_approval_dataset.csv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9749" y="0"/>
            <a:ext cx="12191695" cy="6858000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8503920" y="0"/>
            <a:ext cx="201168" cy="6858000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0" y="0"/>
            <a:ext cx="201168" cy="6858000"/>
          </a:xfrm>
          <a:prstGeom prst="rect">
            <a:avLst/>
          </a:prstGeom>
          <a:solidFill>
            <a:srgbClr val="49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784080" y="0"/>
            <a:ext cx="201168" cy="6858000"/>
          </a:xfrm>
          <a:prstGeom prst="rect">
            <a:avLst/>
          </a:prstGeom>
          <a:solidFill>
            <a:srgbClr val="F2A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831925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49BEBE"/>
                </a:solidFill>
                <a:latin typeface="Aptos"/>
              </a:defRPr>
            </a:pPr>
            <a:r>
              <a:t>EXPLAINABLE AI • RETAIL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7315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Evaluating the Alibi Framework</a:t>
            </a:r>
          </a:p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for Retail Banking Explanations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BECDD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B7DFB5-9BE1-A070-158B-D58F9192C1C1}"/>
              </a:ext>
            </a:extLst>
          </p:cNvPr>
          <p:cNvSpPr txBox="1"/>
          <p:nvPr/>
        </p:nvSpPr>
        <p:spPr>
          <a:xfrm>
            <a:off x="646535" y="4343400"/>
            <a:ext cx="49395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chemeClr val="bg1"/>
                </a:solidFill>
              </a:rPr>
              <a:t> PREESA ROY(MA2411020010005)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31520" y="2941624"/>
            <a:ext cx="7740396" cy="766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DAE6F0"/>
                </a:solidFill>
                <a:latin typeface="Aptos"/>
              </a:defRPr>
            </a:pPr>
            <a:r>
              <a:rPr dirty="0"/>
              <a:t>A practical study of local rule explanations and</a:t>
            </a:r>
          </a:p>
          <a:p>
            <a:pPr>
              <a:spcAft>
                <a:spcPts val="700"/>
              </a:spcAft>
              <a:defRPr sz="1900" b="0">
                <a:solidFill>
                  <a:srgbClr val="DAE6F0"/>
                </a:solidFill>
                <a:latin typeface="Aptos"/>
              </a:defRPr>
            </a:pPr>
            <a:r>
              <a:rPr dirty="0"/>
              <a:t>constraint-aware counterfactual examples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dirty="0"/>
              <a:t>Motivation: explainable loan predictions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34440"/>
            <a:ext cx="3520440" cy="182880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73152" cy="1828800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5528" y="1371600"/>
            <a:ext cx="3154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746504"/>
            <a:ext cx="3136392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E2A38"/>
                </a:solidFill>
                <a:latin typeface="Aptos"/>
              </a:defRPr>
            </a:pPr>
            <a:r>
              <a:rPr dirty="0"/>
              <a:t>A classifier can predict Approved or Rejected without explaining which input conditions drove the output.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234440"/>
            <a:ext cx="3520440" cy="182880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73152" cy="1828800"/>
          </a:xfrm>
          <a:prstGeom prst="rect">
            <a:avLst/>
          </a:prstGeom>
          <a:solidFill>
            <a:srgbClr val="F2A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4568" y="1371600"/>
            <a:ext cx="3154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The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1746504"/>
            <a:ext cx="3136392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E2A38"/>
                </a:solidFill>
                <a:latin typeface="Aptos"/>
              </a:defRPr>
            </a:pPr>
            <a:r>
              <a:rPr dirty="0"/>
              <a:t>Lending decisions are high impact; model behavior needs scrutiny, documentation and fairness checks.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234440"/>
            <a:ext cx="3520440" cy="182880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92440" y="1234440"/>
            <a:ext cx="73152" cy="1828800"/>
          </a:xfrm>
          <a:prstGeom prst="rect">
            <a:avLst/>
          </a:prstGeom>
          <a:solidFill>
            <a:srgbClr val="349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1371600"/>
            <a:ext cx="3154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The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1746504"/>
            <a:ext cx="3136392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E2A38"/>
                </a:solidFill>
                <a:latin typeface="Aptos"/>
              </a:defRPr>
            </a:pPr>
            <a:r>
              <a:t>Use Alibi's local rule explanations and a constrained counterfactual baseline.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7947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009691"/>
                </a:solidFill>
                <a:latin typeface="Aptos"/>
              </a:defRPr>
            </a:pPr>
            <a:r>
              <a:rPr dirty="0"/>
              <a:t>Research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206240"/>
            <a:ext cx="10698480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22340"/>
                </a:solidFill>
                <a:latin typeface="Aptos"/>
              </a:defRPr>
            </a:pPr>
            <a:r>
              <a:rPr lang="en-US" sz="2300" b="1" dirty="0"/>
              <a:t>How effectively can Alibi explain and investigate the decisions of a loan approval classifier?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dirty="0"/>
              <a:t>Objectives and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34440"/>
            <a:ext cx="6675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E2A38"/>
                </a:solidFill>
                <a:latin typeface="Aptos"/>
              </a:defRPr>
            </a:pPr>
            <a:r>
              <a:t>•  Use a public Kaggle dataset with a loan approval/rejection target.</a:t>
            </a:r>
          </a:p>
          <a:p>
            <a:pPr>
              <a:spcAft>
                <a:spcPts val="1100"/>
              </a:spcAft>
              <a:defRPr sz="1800">
                <a:solidFill>
                  <a:srgbClr val="1E2A38"/>
                </a:solidFill>
                <a:latin typeface="Aptos"/>
              </a:defRPr>
            </a:pPr>
            <a:r>
              <a:t>•  Build a reproducible binary classifier and evaluate held-out performance.</a:t>
            </a:r>
          </a:p>
          <a:p>
            <a:pPr>
              <a:spcAft>
                <a:spcPts val="1100"/>
              </a:spcAft>
              <a:defRPr sz="1800">
                <a:solidFill>
                  <a:srgbClr val="1E2A38"/>
                </a:solidFill>
                <a:latin typeface="Aptos"/>
              </a:defRPr>
            </a:pPr>
            <a:r>
              <a:t>•  Generate local if–then rules with Alibi AnchorTabular.</a:t>
            </a:r>
          </a:p>
          <a:p>
            <a:pPr>
              <a:spcAft>
                <a:spcPts val="1100"/>
              </a:spcAft>
              <a:defRPr sz="1800">
                <a:solidFill>
                  <a:srgbClr val="1E2A38"/>
                </a:solidFill>
                <a:latin typeface="Aptos"/>
              </a:defRPr>
            </a:pPr>
            <a:r>
              <a:t>•  Find a nearby observed applicant example with an opposite prediction, subject to constraints.</a:t>
            </a:r>
          </a:p>
          <a:p>
            <a:pPr>
              <a:spcAft>
                <a:spcPts val="1100"/>
              </a:spcAft>
              <a:defRPr sz="1800">
                <a:solidFill>
                  <a:srgbClr val="1E2A38"/>
                </a:solidFill>
                <a:latin typeface="Aptos"/>
              </a:defRPr>
            </a:pPr>
            <a:r>
              <a:t>•  Discuss validity, fairness, feasibility and limitations.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417320"/>
            <a:ext cx="3474720" cy="132588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863840" y="1417320"/>
            <a:ext cx="73152" cy="1325880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65008" y="1554480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Contribution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1929384"/>
            <a:ext cx="3090672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E2A38"/>
                </a:solidFill>
                <a:latin typeface="Aptos"/>
              </a:defRPr>
            </a:pPr>
            <a:r>
              <a:t>Local explanation for an individual prediction.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971800"/>
            <a:ext cx="3474720" cy="132588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63840" y="2971800"/>
            <a:ext cx="73152" cy="1325880"/>
          </a:xfrm>
          <a:prstGeom prst="rect">
            <a:avLst/>
          </a:prstGeom>
          <a:solidFill>
            <a:srgbClr val="F2A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65008" y="3108960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Contribution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3483864"/>
            <a:ext cx="3090672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E2A38"/>
                </a:solidFill>
                <a:latin typeface="Aptos"/>
              </a:defRPr>
            </a:pPr>
            <a:r>
              <a:t>A transparent alternative-example search.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4526280"/>
            <a:ext cx="3474720" cy="132588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63840" y="4526280"/>
            <a:ext cx="73152" cy="1325880"/>
          </a:xfrm>
          <a:prstGeom prst="rect">
            <a:avLst/>
          </a:prstGeom>
          <a:solidFill>
            <a:srgbClr val="349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65008" y="4663440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Contribution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5008" y="5038344"/>
            <a:ext cx="3090672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E2A38"/>
                </a:solidFill>
                <a:latin typeface="Aptos"/>
              </a:defRPr>
            </a:pPr>
            <a:r>
              <a:t>Responsible-use discussion for a high-impact domain.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dirty="0"/>
              <a:t>Dataset: Kaggle Loan Approval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3383280" cy="141732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88720"/>
            <a:ext cx="73152" cy="1417320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3258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1147" y="1536896"/>
            <a:ext cx="2999232" cy="1474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E2A38"/>
                </a:solidFill>
                <a:latin typeface="Aptos"/>
              </a:defRPr>
            </a:pP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https://www.kaggle.com/datasets/architsharma01/loan-approval-prediction-dataset?utm_source=chatgpt.com&amp;select=loan_approval_dataset.csv</a:t>
            </a:r>
            <a:endParaRPr lang="en-US" dirty="0"/>
          </a:p>
          <a:p>
            <a:pPr>
              <a:spcAft>
                <a:spcPts val="700"/>
              </a:spcAft>
              <a:defRPr sz="1400" b="0">
                <a:solidFill>
                  <a:srgbClr val="1E2A38"/>
                </a:solidFill>
                <a:latin typeface="Aptos"/>
              </a:defRPr>
            </a:pP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4389120" y="1188720"/>
            <a:ext cx="3383280" cy="141732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188720"/>
            <a:ext cx="73152" cy="1417320"/>
          </a:xfrm>
          <a:prstGeom prst="rect">
            <a:avLst/>
          </a:prstGeom>
          <a:solidFill>
            <a:srgbClr val="F2A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13258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1700784"/>
            <a:ext cx="2999232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E2A38"/>
                </a:solidFill>
                <a:latin typeface="Aptos"/>
              </a:defRPr>
            </a:pPr>
            <a:r>
              <a:t>loan_status: Approved / Rejected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188720"/>
            <a:ext cx="3383280" cy="141732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188720"/>
            <a:ext cx="73152" cy="1417320"/>
          </a:xfrm>
          <a:prstGeom prst="rect">
            <a:avLst/>
          </a:prstGeom>
          <a:solidFill>
            <a:srgbClr val="349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8" y="13258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Example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1700784"/>
            <a:ext cx="2999232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E2A38"/>
                </a:solidFill>
                <a:latin typeface="Aptos"/>
              </a:defRPr>
            </a:pPr>
            <a:r>
              <a:t>Income, loan amount, loan term, CIBIL score, assets, education and employment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2340"/>
                </a:solidFill>
                <a:latin typeface="Aptos"/>
              </a:defRPr>
            </a:pPr>
            <a:r>
              <a:t>Data 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7472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600">
                <a:solidFill>
                  <a:srgbClr val="1E2A38"/>
                </a:solidFill>
                <a:latin typeface="Aptos"/>
              </a:defRPr>
            </a:pPr>
            <a:r>
              <a:t>•  Normalize column names and target labels</a:t>
            </a:r>
          </a:p>
          <a:p>
            <a:pPr>
              <a:spcAft>
                <a:spcPts val="1100"/>
              </a:spcAft>
              <a:defRPr sz="1600">
                <a:solidFill>
                  <a:srgbClr val="1E2A38"/>
                </a:solidFill>
                <a:latin typeface="Aptos"/>
              </a:defRPr>
            </a:pPr>
            <a:r>
              <a:t>•  Remove identifier columns</a:t>
            </a:r>
          </a:p>
          <a:p>
            <a:pPr>
              <a:spcAft>
                <a:spcPts val="1100"/>
              </a:spcAft>
              <a:defRPr sz="1600">
                <a:solidFill>
                  <a:srgbClr val="1E2A38"/>
                </a:solidFill>
                <a:latin typeface="Aptos"/>
              </a:defRPr>
            </a:pPr>
            <a:r>
              <a:t>•  Impute missing values and encode categories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3063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2340"/>
                </a:solidFill>
                <a:latin typeface="Aptos"/>
              </a:defRPr>
            </a:pPr>
            <a:r>
              <a:t>Target mapping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47472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r>
              <a:t>Approved → 1</a:t>
            </a:r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r>
              <a:t>Rejected → 0</a:t>
            </a:r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r>
              <a:t>Use a stratified train/test split to preserve the label ratio.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dirty="0"/>
              <a:t>End-to-end methodology</a:t>
            </a:r>
            <a:r>
              <a:rPr lang="en-IN" dirty="0"/>
              <a:t> for 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1572768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" y="2148840"/>
            <a:ext cx="1353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009691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542032"/>
            <a:ext cx="14264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Load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2264" y="239572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00969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41448" y="2011680"/>
            <a:ext cx="1572768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51176" y="2148840"/>
            <a:ext cx="1353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009691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542032"/>
            <a:ext cx="14264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Clean + 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1" y="239572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00969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2011680"/>
            <a:ext cx="1572768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9704" y="2148840"/>
            <a:ext cx="1353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009691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542032"/>
            <a:ext cx="14264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Train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239572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00969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18504" y="2011680"/>
            <a:ext cx="1572768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28232" y="2148840"/>
            <a:ext cx="1353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009691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2542032"/>
            <a:ext cx="14264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8" y="239572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00969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57032" y="2011680"/>
            <a:ext cx="1572768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66760" y="2148840"/>
            <a:ext cx="1353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009691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0184" y="2542032"/>
            <a:ext cx="14264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Explain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66376" y="239572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00969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95560" y="2011680"/>
            <a:ext cx="1572768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305288" y="2148840"/>
            <a:ext cx="1353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009691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8712" y="2542032"/>
            <a:ext cx="14264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Inspect alternatives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886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009691"/>
                </a:solidFill>
                <a:latin typeface="Aptos"/>
              </a:defRPr>
            </a:pPr>
            <a:r>
              <a:t>Reproducibility controls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1E2A38"/>
                </a:solidFill>
                <a:latin typeface="Aptos"/>
              </a:defRPr>
            </a:pPr>
            <a:r>
              <a:t>•  Fixed random seed and stratified 80/20 split</a:t>
            </a:r>
          </a:p>
          <a:p>
            <a:pPr>
              <a:spcAft>
                <a:spcPts val="1100"/>
              </a:spcAft>
              <a:defRPr sz="1500">
                <a:solidFill>
                  <a:srgbClr val="1E2A38"/>
                </a:solidFill>
                <a:latin typeface="Aptos"/>
              </a:defRPr>
            </a:pPr>
            <a:r>
              <a:t>•  Preprocessing fitted inside the training pipeline</a:t>
            </a:r>
          </a:p>
          <a:p>
            <a:pPr>
              <a:spcAft>
                <a:spcPts val="1100"/>
              </a:spcAft>
              <a:defRPr sz="1500">
                <a:solidFill>
                  <a:srgbClr val="1E2A38"/>
                </a:solidFill>
                <a:latin typeface="Aptos"/>
              </a:defRPr>
            </a:pPr>
            <a:r>
              <a:t>•  Keep model metrics separate from explanation quality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dirty="0"/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011680" cy="100584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73152" cy="1005840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96596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Kaggle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340864"/>
            <a:ext cx="16276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E2A38"/>
                </a:solidFill>
                <a:latin typeface="Aptos"/>
              </a:defRPr>
            </a:pPr>
            <a:r>
              <a:t>Applicant records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1828800"/>
            <a:ext cx="2011680" cy="100584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154680" y="1828800"/>
            <a:ext cx="73152" cy="1005840"/>
          </a:xfrm>
          <a:prstGeom prst="rect">
            <a:avLst/>
          </a:prstGeom>
          <a:solidFill>
            <a:srgbClr val="F2A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5848" y="196596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Preprocessing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2340864"/>
            <a:ext cx="16276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E2A38"/>
                </a:solidFill>
                <a:latin typeface="Aptos"/>
              </a:defRPr>
            </a:pPr>
            <a:r>
              <a:t>Impute + encode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828800"/>
            <a:ext cx="2011680" cy="100584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69280" y="1828800"/>
            <a:ext cx="73152" cy="1005840"/>
          </a:xfrm>
          <a:prstGeom prst="rect">
            <a:avLst/>
          </a:prstGeom>
          <a:solidFill>
            <a:srgbClr val="349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70448" y="196596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Random Forest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70448" y="2340864"/>
            <a:ext cx="16276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E2A38"/>
                </a:solidFill>
                <a:latin typeface="Aptos"/>
              </a:defRPr>
            </a:pPr>
            <a:r>
              <a:t>Approved / Rejected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9" y="1143000"/>
            <a:ext cx="2971800" cy="100584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83879" y="1143000"/>
            <a:ext cx="73152" cy="1005840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85048" y="1280160"/>
            <a:ext cx="2606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Alibi AnchorTabular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1655064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E2A38"/>
                </a:solidFill>
                <a:latin typeface="Aptos"/>
              </a:defRPr>
            </a:pPr>
            <a:r>
              <a:t>Local rule + precision/coverage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2788920"/>
            <a:ext cx="2971800" cy="100584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79" y="2788920"/>
            <a:ext cx="73152" cy="1005840"/>
          </a:xfrm>
          <a:prstGeom prst="rect">
            <a:avLst/>
          </a:prstGeom>
          <a:solidFill>
            <a:srgbClr val="F2A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85048" y="2926079"/>
            <a:ext cx="2606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Counterfactual baseline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5048" y="3300984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E2A38"/>
                </a:solidFill>
                <a:latin typeface="Aptos"/>
              </a:defRPr>
            </a:pPr>
            <a:r>
              <a:t>Nearest observed alternative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651760" y="2331720"/>
            <a:ext cx="502920" cy="0"/>
          </a:xfrm>
          <a:prstGeom prst="line">
            <a:avLst/>
          </a:prstGeom>
          <a:ln w="25400">
            <a:solidFill>
              <a:srgbClr val="00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66360" y="2331720"/>
            <a:ext cx="502920" cy="0"/>
          </a:xfrm>
          <a:prstGeom prst="line">
            <a:avLst/>
          </a:prstGeom>
          <a:ln w="25400">
            <a:solidFill>
              <a:srgbClr val="00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680960" y="1645920"/>
            <a:ext cx="502919" cy="502920"/>
          </a:xfrm>
          <a:prstGeom prst="line">
            <a:avLst/>
          </a:prstGeom>
          <a:ln w="25400">
            <a:solidFill>
              <a:srgbClr val="00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80960" y="2514600"/>
            <a:ext cx="502919" cy="731520"/>
          </a:xfrm>
          <a:prstGeom prst="line">
            <a:avLst/>
          </a:prstGeom>
          <a:ln w="25400">
            <a:solidFill>
              <a:srgbClr val="00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77240" y="475488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122340"/>
                </a:solidFill>
                <a:latin typeface="Aptos"/>
              </a:defRPr>
            </a:pPr>
            <a:r>
              <a:t>Output: class probability + local rule + candidate alternative + metrics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dirty="0"/>
              <a:t>Predictive model and preprocessing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28" y="1234440"/>
            <a:ext cx="3760696" cy="155448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24157" y="1222607"/>
            <a:ext cx="73152" cy="1554480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1371600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Numeric inputs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5296" y="1746504"/>
            <a:ext cx="3202413" cy="1105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E2A38"/>
                </a:solidFill>
                <a:latin typeface="Aptos"/>
              </a:defRPr>
            </a:pPr>
            <a:r>
              <a:rPr lang="en-US" dirty="0"/>
              <a:t>Loan datasets may contain numerical fields</a:t>
            </a:r>
          </a:p>
          <a:p>
            <a:pPr>
              <a:spcAft>
                <a:spcPts val="700"/>
              </a:spcAft>
              <a:defRPr sz="1500" b="0">
                <a:solidFill>
                  <a:srgbClr val="1E2A38"/>
                </a:solidFill>
                <a:latin typeface="Aptos"/>
              </a:defRPr>
            </a:pPr>
            <a:r>
              <a:rPr lang="en-US" dirty="0"/>
              <a:t> If a numerical field is missing, replace it with the median value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4123944" y="1234440"/>
            <a:ext cx="3739896" cy="155448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38045" y="1234440"/>
            <a:ext cx="73152" cy="1554480"/>
          </a:xfrm>
          <a:prstGeom prst="rect">
            <a:avLst/>
          </a:prstGeom>
          <a:solidFill>
            <a:srgbClr val="F2A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1371600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Categorical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5112" y="1746504"/>
            <a:ext cx="3739896" cy="1105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E2A38"/>
                </a:solidFill>
                <a:latin typeface="Aptos"/>
              </a:defRPr>
            </a:pPr>
            <a:r>
              <a:rPr lang="en-US" dirty="0"/>
              <a:t>Replace missing categorical values with the most common category</a:t>
            </a:r>
          </a:p>
          <a:p>
            <a:pPr>
              <a:spcAft>
                <a:spcPts val="700"/>
              </a:spcAft>
              <a:defRPr sz="1500" b="0">
                <a:solidFill>
                  <a:srgbClr val="1E2A38"/>
                </a:solidFill>
                <a:latin typeface="Aptos"/>
              </a:defRPr>
            </a:pPr>
            <a:r>
              <a:rPr lang="en-US" dirty="0"/>
              <a:t>One-hot encoding: Convert categories into numerical indicator columns </a:t>
            </a: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8092440" y="1234440"/>
            <a:ext cx="3474720" cy="155448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0456" y="1234440"/>
            <a:ext cx="73152" cy="1554480"/>
          </a:xfrm>
          <a:prstGeom prst="rect">
            <a:avLst/>
          </a:prstGeom>
          <a:solidFill>
            <a:srgbClr val="349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1371600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rPr dirty="0"/>
              <a:t>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1746504"/>
            <a:ext cx="309067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E2A38"/>
                </a:solidFill>
                <a:latin typeface="Aptos"/>
              </a:defRPr>
            </a:pPr>
            <a:r>
              <a:rPr lang="en-US" dirty="0"/>
              <a:t>Random Forest uses 300 decision trees to </a:t>
            </a:r>
            <a:r>
              <a:rPr lang="en-US" sz="1400" dirty="0"/>
              <a:t>learn patterns in loan applicant data and predict approval or rejection.</a:t>
            </a:r>
            <a:endParaRPr 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5898239" y="30815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2340"/>
                </a:solidFill>
                <a:latin typeface="Aptos"/>
              </a:defRPr>
            </a:pPr>
            <a:r>
              <a:rPr dirty="0"/>
              <a:t>Why Random Forest?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0448" y="3511296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1E2A38"/>
                </a:solidFill>
                <a:latin typeface="Aptos"/>
              </a:defRPr>
            </a:pPr>
            <a:r>
              <a:rPr dirty="0"/>
              <a:t>•  Captures nonlinear relationships</a:t>
            </a:r>
          </a:p>
          <a:p>
            <a:pPr>
              <a:spcAft>
                <a:spcPts val="1100"/>
              </a:spcAft>
              <a:defRPr sz="1500">
                <a:solidFill>
                  <a:srgbClr val="1E2A38"/>
                </a:solidFill>
                <a:latin typeface="Aptos"/>
              </a:defRPr>
            </a:pPr>
            <a:r>
              <a:rPr dirty="0"/>
              <a:t>•  Works well as a black-box model for XAI</a:t>
            </a:r>
          </a:p>
          <a:p>
            <a:pPr>
              <a:spcAft>
                <a:spcPts val="1100"/>
              </a:spcAft>
              <a:defRPr sz="1500">
                <a:solidFill>
                  <a:srgbClr val="1E2A38"/>
                </a:solidFill>
                <a:latin typeface="Aptos"/>
              </a:defRPr>
            </a:pPr>
            <a:r>
              <a:rPr dirty="0"/>
              <a:t>•  Can produce class probabilities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207" y="30906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2340"/>
                </a:solidFill>
                <a:latin typeface="Aptos"/>
              </a:defRPr>
            </a:pPr>
            <a:r>
              <a:rPr dirty="0"/>
              <a:t>Evaluation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296" y="3511296"/>
            <a:ext cx="4937760" cy="1438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1E2A38"/>
                </a:solidFill>
                <a:latin typeface="Aptos"/>
              </a:defRPr>
            </a:pPr>
            <a:r>
              <a:rPr lang="en-IN" dirty="0"/>
              <a:t>The model is evaluated for:</a:t>
            </a:r>
          </a:p>
          <a:p>
            <a:pPr>
              <a:spcAft>
                <a:spcPts val="1100"/>
              </a:spcAft>
              <a:defRPr sz="1500">
                <a:solidFill>
                  <a:srgbClr val="1E2A38"/>
                </a:solidFill>
                <a:latin typeface="Aptos"/>
              </a:defRPr>
            </a:pPr>
            <a:r>
              <a:rPr dirty="0"/>
              <a:t>•  Accuracy and ROC-AUC</a:t>
            </a:r>
          </a:p>
          <a:p>
            <a:pPr>
              <a:spcAft>
                <a:spcPts val="1100"/>
              </a:spcAft>
              <a:defRPr sz="1500">
                <a:solidFill>
                  <a:srgbClr val="1E2A38"/>
                </a:solidFill>
                <a:latin typeface="Aptos"/>
              </a:defRPr>
            </a:pPr>
            <a:r>
              <a:rPr dirty="0"/>
              <a:t>•  Precision, recall and F1 for approvals</a:t>
            </a:r>
          </a:p>
          <a:p>
            <a:pPr>
              <a:spcAft>
                <a:spcPts val="1100"/>
              </a:spcAft>
              <a:defRPr sz="1500">
                <a:solidFill>
                  <a:srgbClr val="1E2A38"/>
                </a:solidFill>
                <a:latin typeface="Aptos"/>
              </a:defRPr>
            </a:pPr>
            <a:r>
              <a:rPr dirty="0"/>
              <a:t>•  Confusion matrix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dirty="0"/>
              <a:t>Alibi </a:t>
            </a:r>
            <a:r>
              <a:rPr dirty="0" err="1"/>
              <a:t>AnchorTabular</a:t>
            </a:r>
            <a:r>
              <a:rPr dirty="0"/>
              <a:t>: local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009691"/>
                </a:solidFill>
                <a:latin typeface="Aptos"/>
              </a:defRPr>
            </a:pPr>
            <a:r>
              <a:rPr dirty="0"/>
              <a:t>What is an anchor?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937760" cy="340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r>
              <a:rPr lang="en-US" dirty="0"/>
              <a:t>Alibi </a:t>
            </a:r>
            <a:r>
              <a:rPr lang="en-US" dirty="0" err="1"/>
              <a:t>AnchorTabular</a:t>
            </a:r>
            <a:r>
              <a:rPr lang="en-US" dirty="0"/>
              <a:t> helps us understand why our machine learning model predicts that a particular loan application should be approved or rejected. </a:t>
            </a:r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r>
              <a:rPr lang="en-US" dirty="0"/>
              <a:t>It generates a simple rule based on the applicant's features. </a:t>
            </a:r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r>
              <a:rPr lang="en-US" dirty="0"/>
              <a:t>Precision tells us how reliably the rule preserves the prediction, while coverage tells us how broadly the rule applies. </a:t>
            </a:r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r>
              <a:rPr lang="en-US" dirty="0"/>
              <a:t>This makes the model's decision easier to understand.”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6080760" y="1234440"/>
            <a:ext cx="5120640" cy="123444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80760" y="1234440"/>
            <a:ext cx="73152" cy="1234440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81928" y="1371600"/>
            <a:ext cx="47548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Illustrative example — not a measured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1746504"/>
            <a:ext cx="4736592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E2A38"/>
                </a:solidFill>
                <a:latin typeface="Aptos"/>
              </a:defRPr>
            </a:pPr>
            <a:r>
              <a:rPr dirty="0"/>
              <a:t>CIBIL score above a threshold AND loan amount within a range → model predicts Approved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743200"/>
            <a:ext cx="2377440" cy="132588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80760" y="2743200"/>
            <a:ext cx="73152" cy="1325880"/>
          </a:xfrm>
          <a:prstGeom prst="rect">
            <a:avLst/>
          </a:prstGeom>
          <a:solidFill>
            <a:srgbClr val="F2A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81928" y="2880360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Precision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928" y="3255264"/>
            <a:ext cx="1993392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E2A38"/>
                </a:solidFill>
                <a:latin typeface="Aptos"/>
              </a:defRPr>
            </a:pPr>
            <a:r>
              <a:t>How often the rule preserves the prediction.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2743200"/>
            <a:ext cx="2468880" cy="132588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732520" y="2743200"/>
            <a:ext cx="73152" cy="1325880"/>
          </a:xfrm>
          <a:prstGeom prst="rect">
            <a:avLst/>
          </a:prstGeom>
          <a:solidFill>
            <a:srgbClr val="349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33688" y="288036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3255264"/>
            <a:ext cx="2084832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E2A38"/>
                </a:solidFill>
                <a:latin typeface="Aptos"/>
              </a:defRPr>
            </a:pPr>
            <a:r>
              <a:t>How broadly the rule applies.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541264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2340"/>
                </a:solidFill>
                <a:latin typeface="Aptos"/>
              </a:defRPr>
            </a:pPr>
            <a:r>
              <a:t>Workflow: transform training data → fit explainer → explain a held-out application → inspect rule, precision and coverage.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B7325-5389-509E-DE99-BC03DDB3E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521403-CBAE-C8F7-A6AF-BA7CADC7AC7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FF73D4-F80A-3A7A-30EA-3E2DB55DC736}"/>
              </a:ext>
            </a:extLst>
          </p:cNvPr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dirty="0"/>
              <a:t>Alibi </a:t>
            </a:r>
            <a:r>
              <a:rPr dirty="0" err="1"/>
              <a:t>AnchorTabular</a:t>
            </a:r>
            <a:r>
              <a:rPr dirty="0"/>
              <a:t>: </a:t>
            </a:r>
            <a:r>
              <a:rPr lang="en-IN" dirty="0"/>
              <a:t>Why are we using it?</a:t>
            </a: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172A71-0FCA-5C10-900A-51A284D9C3C1}"/>
              </a:ext>
            </a:extLst>
          </p:cNvPr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280E7C-2BE8-B40E-33FD-6593720DDDEB}"/>
              </a:ext>
            </a:extLst>
          </p:cNvPr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153E9D-FBF6-A151-769B-C1AA9139FFCE}"/>
              </a:ext>
            </a:extLst>
          </p:cNvPr>
          <p:cNvSpPr txBox="1"/>
          <p:nvPr/>
        </p:nvSpPr>
        <p:spPr>
          <a:xfrm>
            <a:off x="731519" y="1783080"/>
            <a:ext cx="9999233" cy="4134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r>
              <a:rPr lang="en-US" dirty="0"/>
              <a:t>Alibi </a:t>
            </a:r>
            <a:r>
              <a:rPr lang="en-US" dirty="0" err="1"/>
              <a:t>AnchorTabular</a:t>
            </a:r>
            <a:r>
              <a:rPr lang="en-US" dirty="0"/>
              <a:t> helps us understand why our machine learning model predicts that a particular loan application should be approved or rejected. </a:t>
            </a:r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r>
              <a:rPr lang="en-US" dirty="0"/>
              <a:t>It generates a simple rule based on the applicant's features. </a:t>
            </a:r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r>
              <a:rPr lang="en-US" dirty="0"/>
              <a:t>Precision tells us how reliably the rule preserves the prediction, while coverage tells us how broadly the rule applies. </a:t>
            </a:r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r>
              <a:rPr lang="en-US" dirty="0"/>
              <a:t>This makes the model's decision easier to understand.</a:t>
            </a:r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r>
              <a:rPr lang="en-US" dirty="0"/>
              <a:t>An Anchor is a simple set of conditions that explains a machine learning model’s prediction by identifying the conditions that usually keep the prediction unchanged.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131692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dirty="0"/>
              <a:t>Counterfactual explanation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009691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475488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Can we find a similar loan applicant for whom the model predicts the opposite result?</a:t>
            </a:r>
          </a:p>
          <a:p>
            <a:endParaRPr lang="en-US" dirty="0"/>
          </a:p>
          <a:p>
            <a:r>
              <a:rPr lang="en-US" b="1" dirty="0"/>
              <a:t>To find an alternative</a:t>
            </a:r>
          </a:p>
          <a:p>
            <a:r>
              <a:rPr lang="en-US" dirty="0"/>
              <a:t>	Personal details that should not change, such as age or other immutable characteristics.- Compare: </a:t>
            </a:r>
          </a:p>
          <a:p>
            <a:r>
              <a:rPr lang="en-US" dirty="0"/>
              <a:t>	Find a similar applicant record that receives the opposite prediction.</a:t>
            </a:r>
          </a:p>
          <a:p>
            <a:r>
              <a:rPr lang="en-US" dirty="0"/>
              <a:t> </a:t>
            </a:r>
          </a:p>
          <a:p>
            <a:r>
              <a:rPr lang="en-US" dirty="0"/>
              <a:t>Identify changes: Show which features differ between the original and alternative records.</a:t>
            </a:r>
          </a:p>
          <a:p>
            <a:endParaRPr lang="en-US" dirty="0"/>
          </a:p>
        </p:txBody>
      </p:sp>
      <p:sp>
        <p:nvSpPr>
          <p:cNvPr id="9" name="Rounded Rectangle 8"/>
          <p:cNvSpPr/>
          <p:nvPr/>
        </p:nvSpPr>
        <p:spPr>
          <a:xfrm>
            <a:off x="5852160" y="1234440"/>
            <a:ext cx="5212080" cy="141732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852160" y="1234440"/>
            <a:ext cx="73152" cy="1417320"/>
          </a:xfrm>
          <a:prstGeom prst="rect">
            <a:avLst/>
          </a:prstGeom>
          <a:solidFill>
            <a:srgbClr val="CC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53328" y="1371600"/>
            <a:ext cx="4846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Original application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1746504"/>
            <a:ext cx="4828032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E2A38"/>
                </a:solidFill>
                <a:latin typeface="Aptos"/>
              </a:defRPr>
            </a:pPr>
            <a:r>
              <a:t>Model predicts Rejected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2926080"/>
            <a:ext cx="5212080" cy="141732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0" y="2926080"/>
            <a:ext cx="73152" cy="1417320"/>
          </a:xfrm>
          <a:prstGeom prst="rect">
            <a:avLst/>
          </a:prstGeom>
          <a:solidFill>
            <a:srgbClr val="349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53328" y="3063240"/>
            <a:ext cx="4846320" cy="920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rPr dirty="0"/>
              <a:t>Alternative example</a:t>
            </a:r>
            <a:r>
              <a:rPr lang="en-IN" dirty="0"/>
              <a:t>: </a:t>
            </a:r>
            <a:r>
              <a:rPr lang="en-US" dirty="0"/>
              <a:t>Find a similar applicant with different input values</a:t>
            </a:r>
          </a:p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6053328" y="3438144"/>
            <a:ext cx="4828032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E2A38"/>
                </a:solidFill>
                <a:latin typeface="Aptos"/>
              </a:defRPr>
            </a:pPr>
            <a:endParaRPr lang="en-IN" dirty="0"/>
          </a:p>
          <a:p>
            <a:pPr>
              <a:spcAft>
                <a:spcPts val="700"/>
              </a:spcAft>
              <a:defRPr sz="1500" b="0">
                <a:solidFill>
                  <a:srgbClr val="1E2A38"/>
                </a:solidFill>
                <a:latin typeface="Aptos"/>
              </a:defRPr>
            </a:pPr>
            <a:r>
              <a:rPr dirty="0"/>
              <a:t>Model predicts Approved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676" y="5188252"/>
            <a:ext cx="1051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It helps us understand how the model's prediction responds to changes in applicant information.</a:t>
            </a:r>
          </a:p>
          <a:p>
            <a:r>
              <a:rPr lang="en-US" dirty="0"/>
              <a:t>Important: </a:t>
            </a:r>
          </a:p>
          <a:p>
            <a:r>
              <a:rPr lang="en-US" dirty="0"/>
              <a:t>The alternative is not a guarantee that a real bank would approve the loan. It shows how our trained model responds to a different set of inputs.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dirty="0"/>
              <a:t>Python implementation: </a:t>
            </a:r>
            <a:r>
              <a:rPr lang="en-IN" dirty="0"/>
              <a:t>Code Snippet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10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BB25AC9-0488-051B-5372-0426699FF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19" y="1742380"/>
            <a:ext cx="5385402" cy="309856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777938E-1646-06D9-B8F8-62850070A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757" y="1742380"/>
            <a:ext cx="5785527" cy="41832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1C955-D015-C7BC-DD54-F77D8344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F0A3E9-7DC8-5A28-90D0-E7DF4E728B0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E50655-B1C3-F022-6DF2-F35A0B3531AD}"/>
              </a:ext>
            </a:extLst>
          </p:cNvPr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dirty="0"/>
              <a:t>Python implementation: </a:t>
            </a:r>
            <a:r>
              <a:rPr lang="en-IN" dirty="0"/>
              <a:t>Output</a:t>
            </a: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6439E1-AE9D-E1D2-2D6D-AAE198005A28}"/>
              </a:ext>
            </a:extLst>
          </p:cNvPr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43137D-8C04-1F0B-1723-15F9E75D16AB}"/>
              </a:ext>
            </a:extLst>
          </p:cNvPr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10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1346990-D207-F9B2-1400-CBC94CF82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858" y="1348540"/>
            <a:ext cx="5526755" cy="40930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EFBCCD2-4F86-8D22-DAF8-397DB46FE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9388" y="1318501"/>
            <a:ext cx="4031439" cy="31997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6EA556-AB09-5FD0-76B0-7A2D76F6F3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784" y="4595118"/>
            <a:ext cx="5028796" cy="10929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D8DCA1D-2715-F43A-25C7-4B77986CC8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5886" y="5441576"/>
            <a:ext cx="2959252" cy="1276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2507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EF745-EC3C-F484-50B8-4ACACE520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465CC6-8D8C-0024-923D-438EB6CE2F9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7AD9DE-1112-9E1E-92EB-8686D8541354}"/>
              </a:ext>
            </a:extLst>
          </p:cNvPr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dirty="0"/>
              <a:t>Python implementation: </a:t>
            </a:r>
            <a:r>
              <a:rPr lang="en-IN" dirty="0"/>
              <a:t>Output</a:t>
            </a: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8113AD-742C-FA1E-B0E1-F1AEDA3499A6}"/>
              </a:ext>
            </a:extLst>
          </p:cNvPr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5DD1E9-073E-8C9F-9FA3-D56ABE882708}"/>
              </a:ext>
            </a:extLst>
          </p:cNvPr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10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55172D-105C-4EE0-AE34-2DE0E4904B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74" y="1219086"/>
            <a:ext cx="4921862" cy="23399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87172AE-9D49-430E-0F0A-BE083B908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466" y="1209367"/>
            <a:ext cx="3295819" cy="234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800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10A10-5838-0646-0C74-6770DF549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2764AC3-DF05-3FF7-61A3-A326AD8B6A8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0A391-120D-F2A8-EF72-6123801A78F2}"/>
              </a:ext>
            </a:extLst>
          </p:cNvPr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lang="en-IN" dirty="0"/>
              <a:t>Alibis’ Contribution in Code</a:t>
            </a: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9952FD-DF2E-EB9F-8234-35557007F951}"/>
              </a:ext>
            </a:extLst>
          </p:cNvPr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80DA27-2290-4A65-D849-1FF7E6D26443}"/>
              </a:ext>
            </a:extLst>
          </p:cNvPr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5AE555-0FDA-3F38-DFDB-1C27AE272906}"/>
              </a:ext>
            </a:extLst>
          </p:cNvPr>
          <p:cNvSpPr txBox="1"/>
          <p:nvPr/>
        </p:nvSpPr>
        <p:spPr>
          <a:xfrm>
            <a:off x="618565" y="1219200"/>
            <a:ext cx="10112187" cy="378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Alibi’s usage in parts of the code:</a:t>
            </a:r>
          </a:p>
          <a:p>
            <a:pPr marL="285750" indent="-285750">
              <a:buFontTx/>
              <a:buChar char="-"/>
            </a:pPr>
            <a:r>
              <a:rPr lang="en-US" dirty="0"/>
              <a:t>1. </a:t>
            </a:r>
            <a:r>
              <a:rPr lang="en-US" b="1" dirty="0" err="1"/>
              <a:t>AnchorTabular</a:t>
            </a:r>
            <a:r>
              <a:rPr lang="en-US" b="1" dirty="0"/>
              <a:t> — </a:t>
            </a:r>
            <a:r>
              <a:rPr lang="en-US" b="1" dirty="0" err="1"/>
              <a:t>explain_with_alibi_anchor</a:t>
            </a:r>
            <a:r>
              <a:rPr lang="en-US" b="1" dirty="0"/>
              <a:t>() - </a:t>
            </a:r>
            <a:r>
              <a:rPr lang="en-US" dirty="0"/>
              <a:t>Uses Alibi to generate a local rule explaining a prediction and calculate its precision and coverage. Random Forest alone does not generate these Alibi explanations.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2. </a:t>
            </a:r>
            <a:r>
              <a:rPr lang="en-US" b="1" dirty="0" err="1"/>
              <a:t>CounterfactualProto</a:t>
            </a:r>
            <a:r>
              <a:rPr lang="en-US" b="1" dirty="0"/>
              <a:t> — </a:t>
            </a:r>
            <a:r>
              <a:rPr lang="en-US" b="1" dirty="0" err="1"/>
              <a:t>explain_with_alibi_counterfactual_proto</a:t>
            </a:r>
            <a:r>
              <a:rPr lang="en-US" b="1" dirty="0"/>
              <a:t>() - </a:t>
            </a:r>
            <a:r>
              <a:rPr lang="en-US" dirty="0"/>
              <a:t>Uses Alibi's built-in explainer to search for an alternative input that changes the predicted class and compare the original and alternative predictions.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b="1" dirty="0"/>
              <a:t>- 3. Explanation results - </a:t>
            </a:r>
            <a:r>
              <a:rPr lang="en-US" dirty="0"/>
              <a:t>The anchor rule, precision, coverage, and counterfactual results are the actual outputs that demonstrate Alibi's contribution.</a:t>
            </a:r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700"/>
              </a:spcAft>
              <a:defRPr sz="1800" b="0">
                <a:solidFill>
                  <a:srgbClr val="1E2A38"/>
                </a:solidFill>
                <a:latin typeface="Aptos"/>
              </a:defRPr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A68BDC-BE14-9846-E629-18E862C7C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424" y="4558235"/>
            <a:ext cx="7368327" cy="1627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676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7A332-614B-A772-C890-75F2F2DAD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42F5B51-308F-350C-313E-5D73F96B983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6B141C-83D6-F5DB-B0A3-18FF0A0657C2}"/>
              </a:ext>
            </a:extLst>
          </p:cNvPr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lang="en-IN" dirty="0"/>
              <a:t>Demonstration Results</a:t>
            </a: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07762B-7D84-AF2E-632E-F82500141689}"/>
              </a:ext>
            </a:extLst>
          </p:cNvPr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404E4-1E37-1265-35C2-9A4111E511C0}"/>
              </a:ext>
            </a:extLst>
          </p:cNvPr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C9A629-2282-FA80-BDE4-246BF99B5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18" y="1211440"/>
            <a:ext cx="9771992" cy="481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6963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dirty="0"/>
              <a:t>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418320" y="34747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1000" b="1">
                <a:solidFill>
                  <a:srgbClr val="009691"/>
                </a:solidFill>
                <a:latin typeface="Aptos"/>
              </a:defRPr>
            </a:pPr>
            <a: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6492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700">
                <a:solidFill>
                  <a:srgbClr val="1E2A38"/>
                </a:solidFill>
                <a:latin typeface="Aptos"/>
              </a:defRPr>
            </a:pPr>
            <a:r>
              <a:t>•  Use Alibi's built-in counterfactual method after verifying API/version compatibility.</a:t>
            </a:r>
          </a:p>
          <a:p>
            <a:pPr>
              <a:spcAft>
                <a:spcPts val="1100"/>
              </a:spcAft>
              <a:defRPr sz="1700">
                <a:solidFill>
                  <a:srgbClr val="1E2A38"/>
                </a:solidFill>
                <a:latin typeface="Aptos"/>
              </a:defRPr>
            </a:pPr>
            <a:r>
              <a:t>•  Measure validity, sparsity, distance, feasibility and stability.</a:t>
            </a:r>
          </a:p>
          <a:p>
            <a:pPr>
              <a:spcAft>
                <a:spcPts val="1100"/>
              </a:spcAft>
              <a:defRPr sz="1700">
                <a:solidFill>
                  <a:srgbClr val="1E2A38"/>
                </a:solidFill>
                <a:latin typeface="Aptos"/>
              </a:defRPr>
            </a:pPr>
            <a:r>
              <a:t>•  Compare anchor explanations with SHAP/LIME as secondary baselines.</a:t>
            </a:r>
          </a:p>
          <a:p>
            <a:pPr>
              <a:spcAft>
                <a:spcPts val="1100"/>
              </a:spcAft>
              <a:defRPr sz="1700">
                <a:solidFill>
                  <a:srgbClr val="1E2A38"/>
                </a:solidFill>
                <a:latin typeface="Aptos"/>
              </a:defRPr>
            </a:pPr>
            <a:r>
              <a:t>•  Add subgroup fairness and calibration analysis.</a:t>
            </a:r>
          </a:p>
          <a:p>
            <a:pPr>
              <a:spcAft>
                <a:spcPts val="1100"/>
              </a:spcAft>
              <a:defRPr sz="1700">
                <a:solidFill>
                  <a:srgbClr val="1E2A38"/>
                </a:solidFill>
                <a:latin typeface="Aptos"/>
              </a:defRPr>
            </a:pPr>
            <a:r>
              <a:t>•  Build a Streamlit dashboard for interactive examples.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291840" cy="137160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818120" y="1600200"/>
            <a:ext cx="73152" cy="1371600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19288" y="1737360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Research extension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9288" y="2112264"/>
            <a:ext cx="290779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E2A38"/>
                </a:solidFill>
                <a:latin typeface="Aptos"/>
              </a:defRPr>
            </a:pPr>
            <a:r>
              <a:t>Measure explanation quality, not only accuracy.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3337560"/>
            <a:ext cx="3291840" cy="1371600"/>
          </a:xfrm>
          <a:prstGeom prst="roundRect">
            <a:avLst/>
          </a:prstGeom>
          <a:solidFill>
            <a:srgbClr val="F2F7FA"/>
          </a:solidFill>
          <a:ln>
            <a:solidFill>
              <a:srgbClr val="DE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18120" y="3337560"/>
            <a:ext cx="73152" cy="1371600"/>
          </a:xfrm>
          <a:prstGeom prst="rect">
            <a:avLst/>
          </a:prstGeom>
          <a:solidFill>
            <a:srgbClr val="F2A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19288" y="3474720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Engineering extension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9288" y="3849624"/>
            <a:ext cx="290779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E2A38"/>
                </a:solidFill>
                <a:latin typeface="Aptos"/>
              </a:defRPr>
            </a:pPr>
            <a:r>
              <a:t>Package the model, pipeline and metadata.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dirty="0"/>
              <a:t>Conclusion and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009691"/>
                </a:solidFill>
                <a:latin typeface="Aptos"/>
              </a:defRPr>
            </a:pPr>
            <a:r>
              <a:t>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2340"/>
                </a:solidFill>
                <a:latin typeface="Aptos"/>
              </a:defRPr>
            </a:pPr>
            <a:r>
              <a:t>Alibi can turn a loan model prediction into a local rule. Counterfactual examples add a complementary view, but need checks for validity, feasibility and fairness.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009691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3756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1E2A38"/>
                </a:solidFill>
                <a:latin typeface="Aptos"/>
              </a:defRPr>
            </a:pPr>
            <a:r>
              <a:t>•  Kaggle, Loan Approval Prediction Dataset: https://www.kaggle.com/datasets/architsharma01/loan-approval-prediction-dataset</a:t>
            </a:r>
          </a:p>
          <a:p>
            <a:pPr>
              <a:spcAft>
                <a:spcPts val="1100"/>
              </a:spcAft>
              <a:defRPr sz="1300">
                <a:solidFill>
                  <a:srgbClr val="1E2A38"/>
                </a:solidFill>
                <a:latin typeface="Aptos"/>
              </a:defRPr>
            </a:pPr>
            <a:r>
              <a:t>•  Alibi Explain documentation: https://docs.seldon.ai/alibi-explain/overview/algorithms</a:t>
            </a:r>
          </a:p>
          <a:p>
            <a:pPr>
              <a:spcAft>
                <a:spcPts val="1100"/>
              </a:spcAft>
              <a:defRPr sz="1300">
                <a:solidFill>
                  <a:srgbClr val="1E2A38"/>
                </a:solidFill>
                <a:latin typeface="Aptos"/>
              </a:defRPr>
            </a:pPr>
            <a:r>
              <a:t>•  Alibi Explain getting started: https://docs.seldon.ai/alibi-explain/overview/getting_started</a:t>
            </a:r>
          </a:p>
          <a:p>
            <a:pPr>
              <a:spcAft>
                <a:spcPts val="1100"/>
              </a:spcAft>
              <a:defRPr sz="1300">
                <a:solidFill>
                  <a:srgbClr val="1E2A38"/>
                </a:solidFill>
                <a:latin typeface="Aptos"/>
              </a:defRPr>
            </a:pPr>
            <a:r>
              <a:t>•  Educational prototype only; check the dataset license before redistribution.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0B86D-42D9-14A3-EE54-FA66D9F47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47C349-2244-9057-CADA-5B148855276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22AA61-C3BE-15E6-6CEA-B80F4A730E15}"/>
              </a:ext>
            </a:extLst>
          </p:cNvPr>
          <p:cNvSpPr/>
          <p:nvPr/>
        </p:nvSpPr>
        <p:spPr>
          <a:xfrm>
            <a:off x="530352" y="859536"/>
            <a:ext cx="914400" cy="54864"/>
          </a:xfrm>
          <a:prstGeom prst="rect">
            <a:avLst/>
          </a:prstGeom>
          <a:solidFill>
            <a:srgbClr val="00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BF47CA-E390-E376-A953-8FDB447CAEC7}"/>
              </a:ext>
            </a:extLst>
          </p:cNvPr>
          <p:cNvSpPr txBox="1"/>
          <p:nvPr/>
        </p:nvSpPr>
        <p:spPr>
          <a:xfrm>
            <a:off x="11292840" y="6510528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700"/>
              </a:spcAft>
              <a:defRPr sz="900" b="0">
                <a:solidFill>
                  <a:srgbClr val="5A6C80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71C8D2-D086-0547-FD7F-C48219AF32D2}"/>
              </a:ext>
            </a:extLst>
          </p:cNvPr>
          <p:cNvSpPr txBox="1"/>
          <p:nvPr/>
        </p:nvSpPr>
        <p:spPr>
          <a:xfrm>
            <a:off x="4222376" y="2920115"/>
            <a:ext cx="540571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rPr lang="en-IN" sz="4000" dirty="0"/>
              <a:t>THANK YOU</a:t>
            </a:r>
            <a:endParaRPr sz="4000" dirty="0"/>
          </a:p>
        </p:txBody>
      </p:sp>
    </p:spTree>
    <p:extLst>
      <p:ext uri="{BB962C8B-B14F-4D97-AF65-F5344CB8AC3E}">
        <p14:creationId xmlns:p14="http://schemas.microsoft.com/office/powerpoint/2010/main" val="1770383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539</TotalTime>
  <Words>1197</Words>
  <Application>Microsoft Office PowerPoint</Application>
  <PresentationFormat>Widescreen</PresentationFormat>
  <Paragraphs>183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Archii Tarun</cp:lastModifiedBy>
  <cp:revision>7</cp:revision>
  <dcterms:created xsi:type="dcterms:W3CDTF">2013-01-27T09:14:16Z</dcterms:created>
  <dcterms:modified xsi:type="dcterms:W3CDTF">2026-10-29T09:23:49Z</dcterms:modified>
  <cp:category/>
</cp:coreProperties>
</file>