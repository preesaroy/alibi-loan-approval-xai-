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49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201168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201168" cy="6858000"/>
          </a:xfrm>
          <a:prstGeom prst="rect">
            <a:avLst/>
          </a:prstGeom>
          <a:solidFill>
            <a:srgbClr val="49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84080" y="0"/>
            <a:ext cx="201168" cy="685800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49BEBE"/>
                </a:solidFill>
                <a:latin typeface="Aptos"/>
              </a:defRPr>
            </a:pPr>
            <a:r>
              <a:t>EXPLAINABLE AI • RETAIL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Evaluating the Alibi Framework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for Retail Banking Explanations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ECDD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7DFB5-9BE1-A070-158B-D58F9192C1C1}"/>
              </a:ext>
            </a:extLst>
          </p:cNvPr>
          <p:cNvSpPr txBox="1"/>
          <p:nvPr/>
        </p:nvSpPr>
        <p:spPr>
          <a:xfrm>
            <a:off x="646535" y="4343400"/>
            <a:ext cx="4939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 PREESA ROY(MA2411020010005)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941624"/>
            <a:ext cx="7740396" cy="76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AE6F0"/>
                </a:solidFill>
                <a:latin typeface="Aptos"/>
              </a:defRPr>
            </a:pPr>
            <a:r>
              <a:rPr dirty="0"/>
              <a:t>A practical study of local rule explanations and</a:t>
            </a:r>
          </a:p>
          <a:p>
            <a:pPr>
              <a:spcAft>
                <a:spcPts val="700"/>
              </a:spcAft>
              <a:defRPr sz="1900" b="0">
                <a:solidFill>
                  <a:srgbClr val="DAE6F0"/>
                </a:solidFill>
                <a:latin typeface="Aptos"/>
              </a:defRPr>
            </a:pPr>
            <a:r>
              <a:rPr dirty="0"/>
              <a:t>constraint-aware counterfactual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1. Motivation: explainable loan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37160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46504"/>
            <a:ext cx="3136392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A classifier can predict Approved or Rejected without explaining which input conditions drove the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182880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37160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46504"/>
            <a:ext cx="3136392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Lending decisions are high impact; model behavior needs scrutiny, documentation and fairness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18288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7160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46504"/>
            <a:ext cx="3136392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Use Alibi's local rule explanations and a constrained counterfactual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9691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22340"/>
                </a:solidFill>
                <a:latin typeface="Aptos"/>
              </a:defRPr>
            </a:pPr>
            <a:r>
              <a:t>How can local explanations help an analyst understand why a model predicts a loan as approved or rejected?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2. Objectives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 Use a public Kaggle dataset with a loan approval/rejection target.</a:t>
            </a:r>
          </a:p>
          <a:p>
            <a:pPr>
              <a:spcAft>
                <a:spcPts val="11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 Build a reproducible binary classifier and evaluate held-out performance.</a:t>
            </a:r>
          </a:p>
          <a:p>
            <a:pPr>
              <a:spcAft>
                <a:spcPts val="11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 Generate local if–then rules with Alibi AnchorTabular.</a:t>
            </a:r>
          </a:p>
          <a:p>
            <a:pPr>
              <a:spcAft>
                <a:spcPts val="11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 Find a nearby observed applicant example with an opposite prediction, subject to constraints.</a:t>
            </a:r>
          </a:p>
          <a:p>
            <a:pPr>
              <a:spcAft>
                <a:spcPts val="11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 Discuss validity, fairness, feasibility and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17320"/>
            <a:ext cx="347472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1417320"/>
            <a:ext cx="73152" cy="13258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65008" y="15544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Contribution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1929384"/>
            <a:ext cx="3090672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Local explanation for an individual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971800"/>
            <a:ext cx="347472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0" y="2971800"/>
            <a:ext cx="73152" cy="132588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310896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Contribution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3483864"/>
            <a:ext cx="3090672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A transparent alternative-example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526280"/>
            <a:ext cx="347472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0" y="4526280"/>
            <a:ext cx="73152" cy="132588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8" y="46634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Contribution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5038344"/>
            <a:ext cx="3090672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Responsible-use discussion for a high-impact domain.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3. Dataset: Kaggle Loan Approval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3832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25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0784"/>
            <a:ext cx="2999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Archit Sharma — Loan Approval Prediction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73152" cy="141732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25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00784"/>
            <a:ext cx="2999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loan_status: Approved / 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3832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73152" cy="141732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325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Example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00784"/>
            <a:ext cx="2999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Income, loan amount, loan term, CIBIL score, assets, education and employment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Normalize column names and target labels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Remove identifier columns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Impute missing values and encode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Target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4747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A38"/>
                </a:solidFill>
                <a:latin typeface="Aptos"/>
              </a:defRPr>
            </a:pPr>
            <a:r>
              <a:t>Approved → 1</a:t>
            </a:r>
          </a:p>
          <a:p>
            <a:pPr>
              <a:spcAft>
                <a:spcPts val="700"/>
              </a:spcAft>
              <a:defRPr sz="1800" b="0">
                <a:solidFill>
                  <a:srgbClr val="1E2A38"/>
                </a:solidFill>
                <a:latin typeface="Aptos"/>
              </a:defRPr>
            </a:pPr>
            <a:r>
              <a:t>Rejected → 0</a:t>
            </a:r>
          </a:p>
          <a:p>
            <a:pPr>
              <a:spcAft>
                <a:spcPts val="700"/>
              </a:spcAft>
              <a:defRPr sz="1800" b="0">
                <a:solidFill>
                  <a:srgbClr val="1E2A38"/>
                </a:solidFill>
                <a:latin typeface="Aptos"/>
              </a:defRPr>
            </a:pPr>
            <a:r>
              <a:t>Use a stratified train/test split to preserve the label ratio.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CC4D4D"/>
                </a:solidFill>
                <a:latin typeface="Aptos"/>
              </a:defRPr>
            </a:pPr>
            <a:r>
              <a:t>Download the CSV from Kaggle and upload it to Colab; the dataset is not bundled.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4. End-to-end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Load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1176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Clean +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Train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2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2011680"/>
            <a:ext cx="1572768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05288" y="21488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2542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Inspect alternatives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9691"/>
                </a:solidFill>
                <a:latin typeface="Aptos"/>
              </a:defRPr>
            </a:pPr>
            <a:r>
              <a:t>Reproducibility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Fixed random seed and stratified 80/20 split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Preprocessing fitted inside the training pipeline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Keep model metrics separate from explanation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5.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011680" cy="10058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0058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Kaggle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40864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Applicant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011680" cy="10058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1828800"/>
            <a:ext cx="73152" cy="100584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9659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40864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Impute + encode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828800"/>
            <a:ext cx="2011680" cy="10058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73152" cy="100584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19659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340864"/>
            <a:ext cx="1627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Approved / 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143000"/>
            <a:ext cx="2971800" cy="10058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0058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128016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Alibi AnchorTabular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1655064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Local rule + precision/coverage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788920"/>
            <a:ext cx="2971800" cy="10058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79" y="2788920"/>
            <a:ext cx="73152" cy="100584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2926079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Counterfactual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300984"/>
            <a:ext cx="2587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Nearest observed alternative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2331720"/>
            <a:ext cx="50292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66360" y="2331720"/>
            <a:ext cx="50292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80960" y="1645920"/>
            <a:ext cx="502919" cy="50292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60" y="2514600"/>
            <a:ext cx="502919" cy="73152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47548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22340"/>
                </a:solidFill>
                <a:latin typeface="Aptos"/>
              </a:defRPr>
            </a:pPr>
            <a:r>
              <a:t>Output: class probability + local rule + candidate alternative +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6. Predictive model and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5544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716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Numeric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30906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Median imputation + standard 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55448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716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Categorical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46504"/>
            <a:ext cx="30906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Most-frequent imputation + one-hot encoding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155448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716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46504"/>
            <a:ext cx="30906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Random Forest with 300 trees and class-balanced subsampling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Why Random Forest?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Captures nonlinear relationships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Works well as a black-box model for XAI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Can produce class probabilities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490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Accuracy and ROC-AUC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Precision, recall and F1 for approvals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7. Alibi AnchorTabular: local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9691"/>
                </a:solidFill>
                <a:latin typeface="Aptos"/>
              </a:defRPr>
            </a:pPr>
            <a:r>
              <a:t>What is an anchor?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A38"/>
                </a:solidFill>
                <a:latin typeface="Aptos"/>
              </a:defRPr>
            </a:pPr>
            <a:r>
              <a:t>A set of feature conditions intended to preserve a model prediction for most sampled cases that satisfy the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12064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73152" cy="12344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371600"/>
            <a:ext cx="4754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Illustrative example — not a measured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746504"/>
            <a:ext cx="473659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CIBIL score above a threshold AND loan amount within a range → model predicts Approved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743200"/>
            <a:ext cx="237744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743200"/>
            <a:ext cx="73152" cy="132588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288036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255264"/>
            <a:ext cx="1993392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How often the rule preserves the prediction.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743200"/>
            <a:ext cx="246888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2743200"/>
            <a:ext cx="73152" cy="132588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8" y="288036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255264"/>
            <a:ext cx="2084832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How broadly the rule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Workflow: transform training data → fit explainer → explain a held-out application → inspect rule, precision and coverage.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80"/>
                </a:solidFill>
                <a:latin typeface="Aptos"/>
              </a:defRPr>
            </a:pPr>
            <a:r>
              <a:t>One-hot features may make rules less human-readable; explain this limitation.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8. Counterfactual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09691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E2A38"/>
                </a:solidFill>
                <a:latin typeface="Aptos"/>
              </a:defRPr>
            </a:pPr>
            <a:r>
              <a:t>Can we find a nearby observed applicant that receives the opposite prediction?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234440"/>
            <a:ext cx="52120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73152" cy="1417320"/>
          </a:xfrm>
          <a:prstGeom prst="rect">
            <a:avLst/>
          </a:prstGeom>
          <a:solidFill>
            <a:srgbClr val="CC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53328" y="13716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Original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746504"/>
            <a:ext cx="48280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Model predicts Rejected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926080"/>
            <a:ext cx="52120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0" y="2926080"/>
            <a:ext cx="73152" cy="141732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306324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Alternative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438144"/>
            <a:ext cx="48280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Model predicts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Constraints and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Keep selected immutable features fixed; rank candidates by normalized distance and number of changes.</a:t>
            </a:r>
          </a:p>
          <a:p>
            <a:pPr>
              <a:spcAft>
                <a:spcPts val="11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 An alternative is not a causal recommendation or guarantee of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9. Python implementation: core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10789920" cy="416052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X, y, test_size=0.20, stratify=y, random_state=42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from alibi.explainers import AnchorTabular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explainer = AnchorTabular(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predict_fn, feature_names=transformed_names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explainer.fit(train_transformed)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exp = explainer.explain(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test_transformed[0], threshold=0.90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9691"/>
                </a:solidFill>
                <a:latin typeface="Aptos"/>
              </a:defRPr>
            </a:pPr>
            <a:r>
              <a:t>Full runnable file: alibi_loan_approval.py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10. Demonstration results: measured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C4D4D"/>
                </a:solidFill>
                <a:latin typeface="Aptos"/>
              </a:defRPr>
            </a:pPr>
            <a:r>
              <a:t>Fill these from artifacts/test_metrics.csv after running the code — do not invent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832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0972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6596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40864"/>
            <a:ext cx="2999232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Measured on test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109728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6596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40864"/>
            <a:ext cx="2999232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Approved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828800"/>
            <a:ext cx="33832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59" y="1828800"/>
            <a:ext cx="73152" cy="109728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196596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340864"/>
            <a:ext cx="2999232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Approved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33832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73152" cy="1097280"/>
          </a:xfrm>
          <a:prstGeom prst="rect">
            <a:avLst/>
          </a:prstGeom>
          <a:solidFill>
            <a:srgbClr val="49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4290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803904"/>
            <a:ext cx="2999232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Approved class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91840"/>
            <a:ext cx="33832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291840"/>
            <a:ext cx="73152" cy="1097280"/>
          </a:xfrm>
          <a:prstGeom prst="rect">
            <a:avLst/>
          </a:prstGeom>
          <a:solidFill>
            <a:srgbClr val="CC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4290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803904"/>
            <a:ext cx="2999232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A38"/>
                </a:solidFill>
                <a:latin typeface="Aptos"/>
              </a:defRPr>
            </a:pPr>
            <a:r>
              <a:t>Probability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A38"/>
                </a:solidFill>
                <a:latin typeface="Aptos"/>
              </a:defRPr>
            </a:pPr>
            <a:r>
              <a:t>Model scores depend on the downloaded dataset and split. Report the actual results from your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11. Live demonstration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Show dataset dimensions and Approved/Rejected counts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Run model evaluation and discuss the confusion matrix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Open permutation importance and explain its meaning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Show the Alibi anchor for one held-out applicant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Show original vs candidate alternative and changed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17320"/>
            <a:ext cx="420624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1417320"/>
            <a:ext cx="73152" cy="13716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1554480"/>
            <a:ext cx="3840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Demo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29384"/>
            <a:ext cx="3822191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A38"/>
                </a:solidFill>
                <a:latin typeface="Aptos"/>
              </a:defRPr>
            </a:pPr>
            <a:r>
              <a:t>Prediction → rule → alternative → caveats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54680"/>
            <a:ext cx="420624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3154680"/>
            <a:ext cx="73152" cy="137160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9168" y="3291840"/>
            <a:ext cx="3840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666744"/>
            <a:ext cx="3822191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The explanation describes model behavior, not why a bank made a real-world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12. Limitations and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CRITICAL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Kaggle dataset provenance and collection policy may be limited.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Historical approval labels can encode past biases.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A high accuracy score does not establish fairness.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Counterfactual examples may be infeasible or non-causal.</a:t>
            </a:r>
          </a:p>
          <a:p>
            <a:pPr>
              <a:spcAft>
                <a:spcPts val="1100"/>
              </a:spcAft>
              <a:defRPr sz="1600">
                <a:solidFill>
                  <a:srgbClr val="1E2A38"/>
                </a:solidFill>
                <a:latin typeface="Aptos"/>
              </a:defRPr>
            </a:pPr>
            <a:r>
              <a:t>•  Sensitive attributes and proxies need careful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63040"/>
            <a:ext cx="43891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1463040"/>
            <a:ext cx="73152" cy="123444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1600200"/>
            <a:ext cx="4023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975104"/>
            <a:ext cx="40050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Report class-wise metrics and test across relevant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71800"/>
            <a:ext cx="43891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2971800"/>
            <a:ext cx="73152" cy="123444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3108960"/>
            <a:ext cx="4023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483864"/>
            <a:ext cx="40050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Use for education and analysis, not automated lending.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480560"/>
            <a:ext cx="43891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4480560"/>
            <a:ext cx="73152" cy="12344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0568" y="4617720"/>
            <a:ext cx="4023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4992624"/>
            <a:ext cx="40050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Document dataset source, limitations and run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13.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Use Alibi's built-in counterfactual method after verifying API/version compatibility.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Measure validity, sparsity, distance, feasibility and stability.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Compare anchor explanations with SHAP/LIME as secondary baselines.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Add subgroup fairness and calibration analysis.</a:t>
            </a:r>
          </a:p>
          <a:p>
            <a:pPr>
              <a:spcAft>
                <a:spcPts val="1100"/>
              </a:spcAft>
              <a:defRPr sz="1700">
                <a:solidFill>
                  <a:srgbClr val="1E2A38"/>
                </a:solidFill>
                <a:latin typeface="Aptos"/>
              </a:defRPr>
            </a:pPr>
            <a:r>
              <a:t>•  Build a Streamlit dashboard for interactive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29184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73152" cy="13716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7373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Research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112264"/>
            <a:ext cx="29077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Measure explanation quality, not only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337560"/>
            <a:ext cx="329184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E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3337560"/>
            <a:ext cx="73152" cy="1371600"/>
          </a:xfrm>
          <a:prstGeom prst="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347472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Engineering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849624"/>
            <a:ext cx="29077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A38"/>
                </a:solidFill>
                <a:latin typeface="Aptos"/>
              </a:defRPr>
            </a:pPr>
            <a:r>
              <a:t>Package the model, pipeline and metadata.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14. Conclusion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009691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2340"/>
                </a:solidFill>
                <a:latin typeface="Aptos"/>
              </a:defRPr>
            </a:pPr>
            <a:r>
              <a:t>Alibi can turn a loan model prediction into a local rule. Counterfactual examples add a complementary view, but need checks for validity, feasibility and fairness.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9691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E2A38"/>
                </a:solidFill>
                <a:latin typeface="Aptos"/>
              </a:defRPr>
            </a:pPr>
            <a:r>
              <a:t>•  Kaggle, Loan Approval Prediction Dataset: https://www.kaggle.com/datasets/architsharma01/loan-approval-prediction-dataset</a:t>
            </a:r>
          </a:p>
          <a:p>
            <a:pPr>
              <a:spcAft>
                <a:spcPts val="1100"/>
              </a:spcAft>
              <a:defRPr sz="1300">
                <a:solidFill>
                  <a:srgbClr val="1E2A38"/>
                </a:solidFill>
                <a:latin typeface="Aptos"/>
              </a:defRPr>
            </a:pPr>
            <a:r>
              <a:t>•  Alibi Explain documentation: https://docs.seldon.ai/alibi-explain/overview/algorithms</a:t>
            </a:r>
          </a:p>
          <a:p>
            <a:pPr>
              <a:spcAft>
                <a:spcPts val="1100"/>
              </a:spcAft>
              <a:defRPr sz="1300">
                <a:solidFill>
                  <a:srgbClr val="1E2A38"/>
                </a:solidFill>
                <a:latin typeface="Aptos"/>
              </a:defRPr>
            </a:pPr>
            <a:r>
              <a:t>•  Alibi Explain getting started: https://docs.seldon.ai/alibi-explain/overview/getting_started</a:t>
            </a:r>
          </a:p>
          <a:p>
            <a:pPr>
              <a:spcAft>
                <a:spcPts val="1100"/>
              </a:spcAft>
              <a:defRPr sz="1300">
                <a:solidFill>
                  <a:srgbClr val="1E2A38"/>
                </a:solidFill>
                <a:latin typeface="Aptos"/>
              </a:defRPr>
            </a:pPr>
            <a:r>
              <a:t>•  Educational prototype only; check the dataset license before redistribution.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rPr dirty="0"/>
              <a:t>Thank you •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B86D-42D9-14A3-EE54-FA66D9F4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7C349-2244-9057-CADA-5B148855276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2AA61-C3BE-15E6-6CEA-B80F4A730E15}"/>
              </a:ext>
            </a:extLst>
          </p:cNvPr>
          <p:cNvSpPr/>
          <p:nvPr/>
        </p:nvSpPr>
        <p:spPr>
          <a:xfrm>
            <a:off x="530352" y="859536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F47CA-E390-E376-A953-8FDB447CAEC7}"/>
              </a:ext>
            </a:extLst>
          </p:cNvPr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C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1C8D2-D086-0547-FD7F-C48219AF32D2}"/>
              </a:ext>
            </a:extLst>
          </p:cNvPr>
          <p:cNvSpPr txBox="1"/>
          <p:nvPr/>
        </p:nvSpPr>
        <p:spPr>
          <a:xfrm>
            <a:off x="4222376" y="2920115"/>
            <a:ext cx="54057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rPr lang="en-IN" sz="4000" dirty="0"/>
              <a:t>THANK YOU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77038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1191</Words>
  <Application>Microsoft Office PowerPoint</Application>
  <PresentationFormat>Widescreen</PresentationFormat>
  <Paragraphs>213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Archii Tarun</cp:lastModifiedBy>
  <cp:revision>2</cp:revision>
  <dcterms:created xsi:type="dcterms:W3CDTF">2013-01-27T09:14:16Z</dcterms:created>
  <dcterms:modified xsi:type="dcterms:W3CDTF">2026-10-27T07:31:23Z</dcterms:modified>
  <cp:category/>
</cp:coreProperties>
</file>